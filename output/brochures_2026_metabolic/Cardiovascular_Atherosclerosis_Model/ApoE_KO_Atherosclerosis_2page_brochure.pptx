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c7e4c479af4d72" /><Relationship Type="http://schemas.openxmlformats.org/officeDocument/2006/relationships/extended-properties" Target="/docProps/app.xml" Id="R9c43e267b80f4555" /><Relationship Type="http://schemas.openxmlformats.org/officeDocument/2006/relationships/officeDocument" Target="/ppt/presentation.xml" Id="Rf90134f5a6a84c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9a78e133e64bfb"/>
  </p:sldMasterIdLst>
  <p:notesMasterIdLst>
    <p:notesMasterId xmlns:r="http://schemas.openxmlformats.org/officeDocument/2006/relationships" r:id="R67e1aefcb5594c07"/>
  </p:notesMasterIdLst>
  <p:sldIdLst>
    <p:sldId xmlns:r="http://schemas.openxmlformats.org/officeDocument/2006/relationships" id="256" r:id="R6de0abe96582441a"/>
    <p:sldId xmlns:r="http://schemas.openxmlformats.org/officeDocument/2006/relationships" id="257" r:id="R5594352ba558495e"/>
  </p:sldIdLst>
  <p:sldSz cx="6858000" cy="914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9d83acdc544299" /><Relationship Type="http://schemas.openxmlformats.org/officeDocument/2006/relationships/slideMaster" Target="/ppt/slideMasters/slideMaster1.xml" Id="R9d9a78e133e64bfb" /><Relationship Type="http://schemas.openxmlformats.org/officeDocument/2006/relationships/notesMaster" Target="/ppt/notesMasters/notesMaster1.xml" Id="R67e1aefcb5594c07" /><Relationship Type="http://schemas.openxmlformats.org/officeDocument/2006/relationships/presProps" Target="/ppt/presProps.xml" Id="Rdb031ac548044314" /><Relationship Type="http://schemas.openxmlformats.org/officeDocument/2006/relationships/tableStyles" Target="/ppt/tableStyles.xml" Id="R20c95d3a3c9a4c99" /><Relationship Type="http://schemas.openxmlformats.org/officeDocument/2006/relationships/slide" Target="/ppt/slides/slide1.xml" Id="R6de0abe96582441a" /><Relationship Type="http://schemas.openxmlformats.org/officeDocument/2006/relationships/slide" Target="/ppt/slides/slide2.xml" Id="R5594352ba55849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546440543240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a8d27777464bad" /><Relationship Type="http://schemas.openxmlformats.org/officeDocument/2006/relationships/notesMaster" Target="/ppt/notesMasters/notesMaster1.xml" Id="R8a1c34442fbd44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38ecf6de8a4262" /><Relationship Type="http://schemas.openxmlformats.org/officeDocument/2006/relationships/notesMaster" Target="/ppt/notesMasters/notesMaster1.xml" Id="Rc3295cdf34d14a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/Users/lx/Downloads/2026南模生物代谢模型数据总结 -liuxia-2026-07-09.pptx, slide 28 (primary figure and treatment-group evidence).</a:t>
            </a:r>
          </a:p>
          <a:p xmlns:a="http://schemas.openxmlformats.org/drawingml/2006/main">
            <a:r>
              <a:t>- /Users/lx/.codex/skills/brochure-blueprint/assets/layout.json (brochure geometry).</a:t>
            </a:r>
          </a:p>
          <a:p xmlns:a="http://schemas.openxmlformats.org/drawingml/2006/main">
            <a:r>
              <a:t>- /Users/lx/.codex/skills/brochure-blueprint/assets/brand/ (logo and English footer artwork).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/Users/lx/Downloads/2026南模生物代谢模型数据总结 -liuxia-2026-07-09.pptx, slide 29 (primary figure and treatment-group evidence).</a:t>
            </a:r>
          </a:p>
          <a:p xmlns:a="http://schemas.openxmlformats.org/drawingml/2006/main">
            <a:r>
              <a:t>- /Users/lx/.codex/skills/brochure-blueprint/assets/layout.json (brochure geometry).</a:t>
            </a:r>
          </a:p>
          <a:p xmlns:a="http://schemas.openxmlformats.org/drawingml/2006/main">
            <a:r>
              <a:t>- /Users/lx/.codex/skills/brochure-blueprint/assets/brand/ (logo and English footer artwork).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8d76fe8de34c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31303cf0e848ed" /><Relationship Type="http://schemas.openxmlformats.org/officeDocument/2006/relationships/slideLayout" Target="/ppt/slideLayouts/slideLayout1.xml" Id="R6caa3102825a45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aa3102825a45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f9fc53ae2404b" /><Relationship Type="http://schemas.openxmlformats.org/officeDocument/2006/relationships/image" Target="/ppt/media/image.png" Id="Rfd63b15185504d85" /><Relationship Type="http://schemas.openxmlformats.org/officeDocument/2006/relationships/image" Target="/ppt/media/image2.png" Id="R9a4fae7e0e244707" /><Relationship Type="http://schemas.openxmlformats.org/officeDocument/2006/relationships/image" Target="/ppt/media/image3.png" Id="Rc98fc3a377a143dc" /><Relationship Type="http://schemas.openxmlformats.org/officeDocument/2006/relationships/notesSlide" Target="/ppt/notesSlides/notesSlide1.xml" Id="Rbf40ec1ccb7a40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395351e9f40f1" /><Relationship Type="http://schemas.openxmlformats.org/officeDocument/2006/relationships/image" Target="/ppt/media/image4.png" Id="R767edff6b5f04bfe" /><Relationship Type="http://schemas.openxmlformats.org/officeDocument/2006/relationships/image" Target="/ppt/media/image5.png" Id="R1e30494c69b14052" /><Relationship Type="http://schemas.openxmlformats.org/officeDocument/2006/relationships/image" Target="/ppt/media/image6.png" Id="R7675bd0d255a4f2d" /><Relationship Type="http://schemas.openxmlformats.org/officeDocument/2006/relationships/notesSlide" Target="/ppt/notesSlides/notesSlide2.xml" Id="R1c083dc0fbb94f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1">
            <a:extLst xmlns:a="http://schemas.openxmlformats.org/drawingml/2006/main">
              <a:ext uri="{FF2B5EF4-FFF2-40B4-BE49-F238E27FC236}">
                <a16:creationId xmlns:a16="http://schemas.microsoft.com/office/drawing/2014/main" id="{498F8A60-3231-47C3-B672-5C2B3774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85750"/>
            <a:ext cx="440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4E9C"/>
                </a:solidFill>
              </a:defRPr>
            </a:pPr>
            <a:r>
              <a:rPr sz="1500" b="1">
                <a:solidFill>
                  <a:srgbClr val="1F4E9C"/>
                </a:solidFill>
              </a:rPr>
              <a:t>ApoE-KO Atherosclerosis Mouse Model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3b15185504d85"/>
          <a:stretch xmlns:a="http://schemas.openxmlformats.org/drawingml/2006/main"/>
        </p:blipFill>
        <p:spPr>
          <a:xfrm xmlns:a="http://schemas.openxmlformats.org/drawingml/2006/main">
            <a:off x="4619625" y="261008"/>
            <a:ext cx="2171700" cy="401909"/>
          </a:xfrm>
          <a:prstGeom xmlns:a="http://schemas.openxmlformats.org/drawingml/2006/main" prst="rect">
            <a:avLst/>
          </a:prstGeom>
        </p:spPr>
      </p:pic>
      <p:sp>
        <p:nvSpPr>
          <p:cNvPr id="3" name="header-band-1">
            <a:extLst xmlns:a="http://schemas.openxmlformats.org/drawingml/2006/main">
              <a:ext uri="{FF2B5EF4-FFF2-40B4-BE49-F238E27FC236}">
                <a16:creationId xmlns:a16="http://schemas.microsoft.com/office/drawing/2014/main" id="{033D19DE-2000-486A-BE33-CCC20DE1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"/>
            <a:ext cx="6858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scription-1">
            <a:extLst xmlns:a="http://schemas.openxmlformats.org/drawingml/2006/main">
              <a:ext uri="{FF2B5EF4-FFF2-40B4-BE49-F238E27FC236}">
                <a16:creationId xmlns:a16="http://schemas.microsoft.com/office/drawing/2014/main" id="{2BBF3E78-5FE1-4592-AAE5-CCFF4EAD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95350"/>
            <a:ext cx="659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Western-diet ApoE-knockout mice provide an integrated cardiovascular efficacy model spanning serum lipids, longitudinal body weight, en face aortic plaque burden and aortic-root histology. Atorvastatin serves as the pharmacological validation control.</a:t>
            </a:r>
          </a:p>
        </p:txBody>
      </p:sp>
      <p:sp>
        <p:nvSpPr>
          <p:cNvPr id="5" name="study-banner-1">
            <a:extLst xmlns:a="http://schemas.openxmlformats.org/drawingml/2006/main">
              <a:ext uri="{FF2B5EF4-FFF2-40B4-BE49-F238E27FC236}">
                <a16:creationId xmlns:a16="http://schemas.microsoft.com/office/drawing/2014/main" id="{CD7E9570-324B-48F6-B631-77AA8E4A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781175"/>
            <a:ext cx="63055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C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udy-banner-text-1">
            <a:extLst xmlns:a="http://schemas.openxmlformats.org/drawingml/2006/main">
              <a:ext uri="{FF2B5EF4-FFF2-40B4-BE49-F238E27FC236}">
                <a16:creationId xmlns:a16="http://schemas.microsoft.com/office/drawing/2014/main" id="{2DE89ECE-2F53-484B-A9E9-0C6E19B0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5953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Systemic lipid response and plaque burden</a:t>
            </a:r>
          </a:p>
        </p:txBody>
      </p:sp>
      <p:sp>
        <p:nvSpPr>
          <p:cNvPr id="7" name="intro-1">
            <a:extLst xmlns:a="http://schemas.openxmlformats.org/drawingml/2006/main">
              <a:ext uri="{FF2B5EF4-FFF2-40B4-BE49-F238E27FC236}">
                <a16:creationId xmlns:a16="http://schemas.microsoft.com/office/drawing/2014/main" id="{593DA06B-470C-4937-BD96-0400C225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90750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657B"/>
                </a:solidFill>
              </a:defRPr>
            </a:pPr>
            <a:r>
              <a:rPr sz="938" b="0">
                <a:solidFill>
                  <a:srgbClr val="55657B"/>
                </a:solidFill>
              </a:rPr>
              <a:t>Atorvastatin (10 mg/kg, p.o., bid) is benchmarked against western-diet vehicle and chow controls through day 55.</a:t>
            </a:r>
          </a:p>
        </p:txBody>
      </p:sp>
      <p:sp>
        <p:nvSpPr>
          <p:cNvPr id="8" name="side-tab-1">
            <a:extLst xmlns:a="http://schemas.openxmlformats.org/drawingml/2006/main">
              <a:ext uri="{FF2B5EF4-FFF2-40B4-BE49-F238E27FC236}">
                <a16:creationId xmlns:a16="http://schemas.microsoft.com/office/drawing/2014/main" id="{953351F8-ECF8-42AC-98A6-9C5DD1EB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514600"/>
            <a:ext cx="371475" cy="5076825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EE82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ide-tab-text-1">
            <a:extLst xmlns:a="http://schemas.openxmlformats.org/drawingml/2006/main">
              <a:ext uri="{FF2B5EF4-FFF2-40B4-BE49-F238E27FC236}">
                <a16:creationId xmlns:a16="http://schemas.microsoft.com/office/drawing/2014/main" id="{B985B45D-0371-4E6A-95ED-BBABCF35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2171700" y="4910138"/>
            <a:ext cx="4772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</a:rPr>
              <a:t>55-DAY ATORVASTATIN</a:t>
            </a:r>
          </a:p>
        </p:txBody>
      </p:sp>
      <p:sp>
        <p:nvSpPr>
          <p:cNvPr id="10" name="figure-frame-1">
            <a:extLst xmlns:a="http://schemas.openxmlformats.org/drawingml/2006/main">
              <a:ext uri="{FF2B5EF4-FFF2-40B4-BE49-F238E27FC236}">
                <a16:creationId xmlns:a16="http://schemas.microsoft.com/office/drawing/2014/main" id="{B6C7B831-13D9-4EB7-A9F7-B3BF8504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581275"/>
            <a:ext cx="6191250" cy="5019675"/>
          </a:xfrm>
          <a:prstGeom xmlns:a="http://schemas.openxmlformats.org/drawingml/2006/main" prst="roundRect">
            <a:avLst>
              <a:gd name="adj" fmla="val 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fae7e0e244707"/>
          <a:stretch xmlns:a="http://schemas.openxmlformats.org/drawingml/2006/main"/>
        </p:blipFill>
        <p:spPr>
          <a:xfrm xmlns:a="http://schemas.openxmlformats.org/drawingml/2006/main">
            <a:off x="581025" y="3371645"/>
            <a:ext cx="6115050" cy="3438934"/>
          </a:xfrm>
          <a:prstGeom xmlns:a="http://schemas.openxmlformats.org/drawingml/2006/main" prst="rect">
            <a:avLst/>
          </a:prstGeom>
        </p:spPr>
      </p:pic>
      <p:sp>
        <p:nvSpPr>
          <p:cNvPr id="12" name="caption-1">
            <a:extLst xmlns:a="http://schemas.openxmlformats.org/drawingml/2006/main">
              <a:ext uri="{FF2B5EF4-FFF2-40B4-BE49-F238E27FC236}">
                <a16:creationId xmlns:a16="http://schemas.microsoft.com/office/drawing/2014/main" id="{63C0F425-BA00-44C0-9682-838FC86C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7648575"/>
            <a:ext cx="6267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4324A"/>
                </a:solidFill>
              </a:defRPr>
            </a:pPr>
            <a:r>
              <a:rPr sz="788" b="0">
                <a:solidFill>
                  <a:srgbClr val="24324A"/>
                </a:solidFill>
              </a:rPr>
              <a:t>Fig. 1. Western-diet ApoE-KO mice developed adverse lipid profiles and extensive aortic lipid staining; atorvastatin partially normalized circulating lipids and reduced visible plaque burden. Source slide 28.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8fc3a377a143dc"/>
          <a:srcRect xmlns:a="http://schemas.openxmlformats.org/drawingml/2006/main" l="0" t="177" r="0" b="1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8201025"/>
            <a:ext cx="6858000" cy="9429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4443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2">
            <a:extLst xmlns:a="http://schemas.openxmlformats.org/drawingml/2006/main">
              <a:ext uri="{FF2B5EF4-FFF2-40B4-BE49-F238E27FC236}">
                <a16:creationId xmlns:a16="http://schemas.microsoft.com/office/drawing/2014/main" id="{CDF23067-D2C9-4D3E-9C7B-D04456F7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8575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9C"/>
                </a:solidFill>
              </a:defRPr>
            </a:pPr>
            <a:r>
              <a:rPr sz="1350" b="1">
                <a:solidFill>
                  <a:srgbClr val="1F4E9C"/>
                </a:solidFill>
              </a:rPr>
              <a:t>Atherosclerosis Model | Histopathology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7edff6b5f04bfe"/>
          <a:stretch xmlns:a="http://schemas.openxmlformats.org/drawingml/2006/main"/>
        </p:blipFill>
        <p:spPr>
          <a:xfrm xmlns:a="http://schemas.openxmlformats.org/drawingml/2006/main">
            <a:off x="4619625" y="261008"/>
            <a:ext cx="2171700" cy="401909"/>
          </a:xfrm>
          <a:prstGeom xmlns:a="http://schemas.openxmlformats.org/drawingml/2006/main" prst="rect">
            <a:avLst/>
          </a:prstGeom>
        </p:spPr>
      </p:pic>
      <p:sp>
        <p:nvSpPr>
          <p:cNvPr id="3" name="study-banner-2">
            <a:extLst xmlns:a="http://schemas.openxmlformats.org/drawingml/2006/main">
              <a:ext uri="{FF2B5EF4-FFF2-40B4-BE49-F238E27FC236}">
                <a16:creationId xmlns:a16="http://schemas.microsoft.com/office/drawing/2014/main" id="{1C8F019E-683A-4B26-967C-ADACA276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866775"/>
            <a:ext cx="63055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C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y-banner-text-2">
            <a:extLst xmlns:a="http://schemas.openxmlformats.org/drawingml/2006/main">
              <a:ext uri="{FF2B5EF4-FFF2-40B4-BE49-F238E27FC236}">
                <a16:creationId xmlns:a16="http://schemas.microsoft.com/office/drawing/2014/main" id="{35C91617-140C-4394-9FC7-1073E7E9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5953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Aortic-root histology confirms lesion burden</a:t>
            </a:r>
          </a:p>
        </p:txBody>
      </p:sp>
      <p:sp>
        <p:nvSpPr>
          <p:cNvPr id="5" name="intro-2">
            <a:extLst xmlns:a="http://schemas.openxmlformats.org/drawingml/2006/main">
              <a:ext uri="{FF2B5EF4-FFF2-40B4-BE49-F238E27FC236}">
                <a16:creationId xmlns:a16="http://schemas.microsoft.com/office/drawing/2014/main" id="{8CE0B39A-3EB6-4AA9-8549-5390007D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76350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657B"/>
                </a:solidFill>
              </a:defRPr>
            </a:pPr>
            <a:r>
              <a:rPr sz="938" b="0">
                <a:solidFill>
                  <a:srgbClr val="55657B"/>
                </a:solidFill>
              </a:rPr>
              <a:t>Oil Red O staining and quantitative lesion area provide tissue-level validation of disease severity and treatment response.</a:t>
            </a:r>
          </a:p>
        </p:txBody>
      </p:sp>
      <p:sp>
        <p:nvSpPr>
          <p:cNvPr id="6" name="side-tab-2">
            <a:extLst xmlns:a="http://schemas.openxmlformats.org/drawingml/2006/main">
              <a:ext uri="{FF2B5EF4-FFF2-40B4-BE49-F238E27FC236}">
                <a16:creationId xmlns:a16="http://schemas.microsoft.com/office/drawing/2014/main" id="{D8239FEF-B26A-49E7-89DC-40BBC66A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1695450"/>
            <a:ext cx="371475" cy="5895975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7E1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ide-tab-text-2">
            <a:extLst xmlns:a="http://schemas.openxmlformats.org/drawingml/2006/main">
              <a:ext uri="{FF2B5EF4-FFF2-40B4-BE49-F238E27FC236}">
                <a16:creationId xmlns:a16="http://schemas.microsoft.com/office/drawing/2014/main" id="{3E2009E9-8CBC-4A69-8801-75B03A44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2581275" y="4500563"/>
            <a:ext cx="5591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</a:rPr>
              <a:t>OIL RED O HISTOLOGY</a:t>
            </a:r>
          </a:p>
        </p:txBody>
      </p:sp>
      <p:sp>
        <p:nvSpPr>
          <p:cNvPr id="8" name="figure-frame-2">
            <a:extLst xmlns:a="http://schemas.openxmlformats.org/drawingml/2006/main">
              <a:ext uri="{FF2B5EF4-FFF2-40B4-BE49-F238E27FC236}">
                <a16:creationId xmlns:a16="http://schemas.microsoft.com/office/drawing/2014/main" id="{F11B88BB-D52C-48F3-8EA5-43F40FEC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695450"/>
            <a:ext cx="6191250" cy="5895975"/>
          </a:xfrm>
          <a:prstGeom xmlns:a="http://schemas.openxmlformats.org/drawingml/2006/main" prst="roundRect">
            <a:avLst>
              <a:gd name="adj" fmla="val 8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F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30494c69b14052"/>
          <a:stretch xmlns:a="http://schemas.openxmlformats.org/drawingml/2006/main"/>
        </p:blipFill>
        <p:spPr>
          <a:xfrm xmlns:a="http://schemas.openxmlformats.org/drawingml/2006/main">
            <a:off x="581025" y="2923970"/>
            <a:ext cx="6115050" cy="3438934"/>
          </a:xfrm>
          <a:prstGeom xmlns:a="http://schemas.openxmlformats.org/drawingml/2006/main" prst="rect">
            <a:avLst/>
          </a:prstGeom>
        </p:spPr>
      </p:pic>
      <p:sp>
        <p:nvSpPr>
          <p:cNvPr id="10" name="caption-2">
            <a:extLst xmlns:a="http://schemas.openxmlformats.org/drawingml/2006/main">
              <a:ext uri="{FF2B5EF4-FFF2-40B4-BE49-F238E27FC236}">
                <a16:creationId xmlns:a16="http://schemas.microsoft.com/office/drawing/2014/main" id="{F0A55881-2CD3-435E-A655-FF7EF6C5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7648575"/>
            <a:ext cx="6267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4324A"/>
                </a:solidFill>
              </a:defRPr>
            </a:pPr>
            <a:r>
              <a:rPr sz="788" b="0">
                <a:solidFill>
                  <a:srgbClr val="24324A"/>
                </a:solidFill>
              </a:rPr>
              <a:t>Fig. 2. Aortic-root Oil Red O staining and lesion-area quantification distinguish chow controls from western-diet ApoE-KO mice and show a partial atorvastatin response. Source slide 29.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75bd0d255a4f2d"/>
          <a:srcRect xmlns:a="http://schemas.openxmlformats.org/drawingml/2006/main" l="0" t="177" r="0" b="1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8201025"/>
            <a:ext cx="6858000" cy="9429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8769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2026-07-24T08:17:10.9370000Z</dcterms:created>
  <dcterms:modified xsi:type="dcterms:W3CDTF">2026-07-24T08:17:10.9370000Z</dcterms:modified>
</coreProperties>
</file>