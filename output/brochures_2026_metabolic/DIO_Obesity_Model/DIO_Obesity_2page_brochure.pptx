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0514c1edad4f64" /><Relationship Type="http://schemas.openxmlformats.org/officeDocument/2006/relationships/extended-properties" Target="/docProps/app.xml" Id="Rd6e1a6c17f9b4d3b" /><Relationship Type="http://schemas.openxmlformats.org/officeDocument/2006/relationships/officeDocument" Target="/ppt/presentation.xml" Id="R5ad334d6161a4f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7b11f823c24f71"/>
  </p:sldMasterIdLst>
  <p:notesMasterIdLst>
    <p:notesMasterId xmlns:r="http://schemas.openxmlformats.org/officeDocument/2006/relationships" r:id="R42663cfe6cff490c"/>
  </p:notesMasterIdLst>
  <p:sldIdLst>
    <p:sldId xmlns:r="http://schemas.openxmlformats.org/officeDocument/2006/relationships" id="256" r:id="R2b4a8d37461f49ef"/>
    <p:sldId xmlns:r="http://schemas.openxmlformats.org/officeDocument/2006/relationships" id="257" r:id="R1cfbf9f5922f40a5"/>
  </p:sldIdLst>
  <p:sldSz cx="6858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ca62404bc54fa7" /><Relationship Type="http://schemas.openxmlformats.org/officeDocument/2006/relationships/slideMaster" Target="/ppt/slideMasters/slideMaster1.xml" Id="R8c7b11f823c24f71" /><Relationship Type="http://schemas.openxmlformats.org/officeDocument/2006/relationships/notesMaster" Target="/ppt/notesMasters/notesMaster1.xml" Id="R42663cfe6cff490c" /><Relationship Type="http://schemas.openxmlformats.org/officeDocument/2006/relationships/presProps" Target="/ppt/presProps.xml" Id="R409e8403479544e3" /><Relationship Type="http://schemas.openxmlformats.org/officeDocument/2006/relationships/tableStyles" Target="/ppt/tableStyles.xml" Id="Ra6a1b880ad964196" /><Relationship Type="http://schemas.openxmlformats.org/officeDocument/2006/relationships/slide" Target="/ppt/slides/slide1.xml" Id="R2b4a8d37461f49ef" /><Relationship Type="http://schemas.openxmlformats.org/officeDocument/2006/relationships/slide" Target="/ppt/slides/slide2.xml" Id="R1cfbf9f5922f40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1939d36c414a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116db4ff5342e2" /><Relationship Type="http://schemas.openxmlformats.org/officeDocument/2006/relationships/notesMaster" Target="/ppt/notesMasters/notesMaster1.xml" Id="R20fc4fb9db0649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f7af502123453b" /><Relationship Type="http://schemas.openxmlformats.org/officeDocument/2006/relationships/notesMaster" Target="/ppt/notesMasters/notesMaster1.xml" Id="R38480a6df71944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/Users/lx/Downloads/2026南模生物代谢模型数据总结 -liuxia-2026-07-09.pptx, slide 11 (primary figure and treatment-group evidence).</a:t>
            </a:r>
          </a:p>
          <a:p xmlns:a="http://schemas.openxmlformats.org/drawingml/2006/main">
            <a:r>
              <a:t>- /Users/lx/.codex/skills/brochure-blueprint/assets/layout.json (brochure geometry).</a:t>
            </a:r>
          </a:p>
          <a:p xmlns:a="http://schemas.openxmlformats.org/drawingml/2006/main">
            <a:r>
              <a:t>- /Users/lx/.codex/skills/brochure-blueprint/assets/brand/ (logo and English footer artwork).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/Users/lx/Downloads/2026南模生物代谢模型数据总结 -liuxia-2026-07-09.pptx, slide 12 (primary figure and treatment-group evidence).</a:t>
            </a:r>
          </a:p>
          <a:p xmlns:a="http://schemas.openxmlformats.org/drawingml/2006/main">
            <a:r>
              <a:t>- /Users/lx/.codex/skills/brochure-blueprint/assets/layout.json (brochure geometry).</a:t>
            </a:r>
          </a:p>
          <a:p xmlns:a="http://schemas.openxmlformats.org/drawingml/2006/main">
            <a:r>
              <a:t>- /Users/lx/.codex/skills/brochure-blueprint/assets/brand/ (logo and English footer artwork).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f25d405ac44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2c9c21ff8a44ab" /><Relationship Type="http://schemas.openxmlformats.org/officeDocument/2006/relationships/slideLayout" Target="/ppt/slideLayouts/slideLayout1.xml" Id="R4627397af5eb45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27397af5eb45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5c8bd541c42b5" /><Relationship Type="http://schemas.openxmlformats.org/officeDocument/2006/relationships/image" Target="/ppt/media/image.png" Id="R79f21af38c1446fd" /><Relationship Type="http://schemas.openxmlformats.org/officeDocument/2006/relationships/image" Target="/ppt/media/image2.png" Id="R3f7c1a89e8e840f5" /><Relationship Type="http://schemas.openxmlformats.org/officeDocument/2006/relationships/image" Target="/ppt/media/image3.png" Id="Rc464d216b5c64272" /><Relationship Type="http://schemas.openxmlformats.org/officeDocument/2006/relationships/notesSlide" Target="/ppt/notesSlides/notesSlide1.xml" Id="R2005a34a8dc4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f66b13c724306" /><Relationship Type="http://schemas.openxmlformats.org/officeDocument/2006/relationships/image" Target="/ppt/media/image4.png" Id="R5fd6b6e76a8f43e3" /><Relationship Type="http://schemas.openxmlformats.org/officeDocument/2006/relationships/image" Target="/ppt/media/image5.png" Id="R0ef38ed7ca0a4563" /><Relationship Type="http://schemas.openxmlformats.org/officeDocument/2006/relationships/image" Target="/ppt/media/image6.png" Id="R2276c3244c664bf0" /><Relationship Type="http://schemas.openxmlformats.org/officeDocument/2006/relationships/notesSlide" Target="/ppt/notesSlides/notesSlide2.xml" Id="Rb1475a3518c940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">
            <a:extLst xmlns:a="http://schemas.openxmlformats.org/drawingml/2006/main">
              <a:ext uri="{FF2B5EF4-FFF2-40B4-BE49-F238E27FC236}">
                <a16:creationId xmlns:a16="http://schemas.microsoft.com/office/drawing/2014/main" id="{655F377F-66DA-4070-90D5-3E59F8BD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575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9C"/>
                </a:solidFill>
              </a:defRPr>
            </a:pPr>
            <a:r>
              <a:rPr sz="1500" b="1">
                <a:solidFill>
                  <a:srgbClr val="1F4E9C"/>
                </a:solidFill>
              </a:rPr>
              <a:t>HFD-Induced C57BL/6 Obese Mouse Model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21af38c1446fd"/>
          <a:stretch xmlns:a="http://schemas.openxmlformats.org/drawingml/2006/main"/>
        </p:blipFill>
        <p:spPr>
          <a:xfrm xmlns:a="http://schemas.openxmlformats.org/drawingml/2006/main">
            <a:off x="4619625" y="261008"/>
            <a:ext cx="2171700" cy="401909"/>
          </a:xfrm>
          <a:prstGeom xmlns:a="http://schemas.openxmlformats.org/drawingml/2006/main" prst="rect">
            <a:avLst/>
          </a:prstGeom>
        </p:spPr>
      </p:pic>
      <p:sp>
        <p:nvSpPr>
          <p:cNvPr id="3" name="header-band-1">
            <a:extLst xmlns:a="http://schemas.openxmlformats.org/drawingml/2006/main">
              <a:ext uri="{FF2B5EF4-FFF2-40B4-BE49-F238E27FC236}">
                <a16:creationId xmlns:a16="http://schemas.microsoft.com/office/drawing/2014/main" id="{82392BF7-AD9B-4843-ACBB-F6E21A30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1722E03C-6CD7-439A-9F2C-4F5E24F3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895350"/>
            <a:ext cx="65913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Validated diet-induced obesity platform for body-weight and body-composition pharmacology. The study compares saline, semaglutide, bimagrumab and combination treatment across longitudinal weight, food intake, fat mass, lean mass and terminal tissue endpoints.</a:t>
            </a:r>
          </a:p>
        </p:txBody>
      </p:sp>
      <p:sp>
        <p:nvSpPr>
          <p:cNvPr id="5" name="study-banner-1">
            <a:extLst xmlns:a="http://schemas.openxmlformats.org/drawingml/2006/main">
              <a:ext uri="{FF2B5EF4-FFF2-40B4-BE49-F238E27FC236}">
                <a16:creationId xmlns:a16="http://schemas.microsoft.com/office/drawing/2014/main" id="{C248BF64-037A-495C-A1C5-A16EEFE1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81175"/>
            <a:ext cx="63055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udy-banner-text-1">
            <a:extLst xmlns:a="http://schemas.openxmlformats.org/drawingml/2006/main">
              <a:ext uri="{FF2B5EF4-FFF2-40B4-BE49-F238E27FC236}">
                <a16:creationId xmlns:a16="http://schemas.microsoft.com/office/drawing/2014/main" id="{543F2433-9977-49E7-B19E-A9545FDF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95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Body-weight and composition response</a:t>
            </a:r>
          </a:p>
        </p:txBody>
      </p:sp>
      <p:sp>
        <p:nvSpPr>
          <p:cNvPr id="7" name="intro-1">
            <a:extLst xmlns:a="http://schemas.openxmlformats.org/drawingml/2006/main">
              <a:ext uri="{FF2B5EF4-FFF2-40B4-BE49-F238E27FC236}">
                <a16:creationId xmlns:a16="http://schemas.microsoft.com/office/drawing/2014/main" id="{D874D8D0-9498-4FBA-A774-21864862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657B"/>
                </a:solidFill>
              </a:defRPr>
            </a:pPr>
            <a:r>
              <a:rPr sz="938" b="0">
                <a:solidFill>
                  <a:srgbClr val="55657B"/>
                </a:solidFill>
              </a:rPr>
              <a:t>A 28-day study quantifies body weight and cumulative intake alongside fat- and lean-mass trajectories.</a:t>
            </a:r>
          </a:p>
        </p:txBody>
      </p:sp>
      <p:sp>
        <p:nvSpPr>
          <p:cNvPr id="8" name="side-tab-1">
            <a:extLst xmlns:a="http://schemas.openxmlformats.org/drawingml/2006/main">
              <a:ext uri="{FF2B5EF4-FFF2-40B4-BE49-F238E27FC236}">
                <a16:creationId xmlns:a16="http://schemas.microsoft.com/office/drawing/2014/main" id="{ECEBDBE6-1335-4517-90A5-F47FD91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2514600"/>
            <a:ext cx="371475" cy="507682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E82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de-tab-text-1">
            <a:extLst xmlns:a="http://schemas.openxmlformats.org/drawingml/2006/main">
              <a:ext uri="{FF2B5EF4-FFF2-40B4-BE49-F238E27FC236}">
                <a16:creationId xmlns:a16="http://schemas.microsoft.com/office/drawing/2014/main" id="{F763C446-6039-46DB-B4CC-7EAC5F4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171700" y="4910138"/>
            <a:ext cx="477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28-DAY DIO STUDY</a:t>
            </a:r>
          </a:p>
        </p:txBody>
      </p:sp>
      <p:sp>
        <p:nvSpPr>
          <p:cNvPr id="10" name="figure-frame-1">
            <a:extLst xmlns:a="http://schemas.openxmlformats.org/drawingml/2006/main">
              <a:ext uri="{FF2B5EF4-FFF2-40B4-BE49-F238E27FC236}">
                <a16:creationId xmlns:a16="http://schemas.microsoft.com/office/drawing/2014/main" id="{1A4C30A2-0DB8-4940-B9E2-1ADE2741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81275"/>
            <a:ext cx="6191250" cy="5019675"/>
          </a:xfrm>
          <a:prstGeom xmlns:a="http://schemas.openxmlformats.org/drawingml/2006/main" prst="roundRect">
            <a:avLst>
              <a:gd name="adj" fmla="val 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c1a89e8e840f5"/>
          <a:stretch xmlns:a="http://schemas.openxmlformats.org/drawingml/2006/main"/>
        </p:blipFill>
        <p:spPr>
          <a:xfrm xmlns:a="http://schemas.openxmlformats.org/drawingml/2006/main">
            <a:off x="581025" y="3371645"/>
            <a:ext cx="6115050" cy="3438934"/>
          </a:xfrm>
          <a:prstGeom xmlns:a="http://schemas.openxmlformats.org/drawingml/2006/main" prst="rect">
            <a:avLst/>
          </a:prstGeom>
        </p:spPr>
      </p:pic>
      <p:sp>
        <p:nvSpPr>
          <p:cNvPr id="12" name="caption-1">
            <a:extLst xmlns:a="http://schemas.openxmlformats.org/drawingml/2006/main">
              <a:ext uri="{FF2B5EF4-FFF2-40B4-BE49-F238E27FC236}">
                <a16:creationId xmlns:a16="http://schemas.microsoft.com/office/drawing/2014/main" id="{732EAC34-0B0F-4843-B13D-2B3BF46A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648575"/>
            <a:ext cx="6267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4324A"/>
                </a:solidFill>
              </a:defRPr>
            </a:pPr>
            <a:r>
              <a:rPr sz="788" b="0">
                <a:solidFill>
                  <a:srgbClr val="24324A"/>
                </a:solidFill>
              </a:rPr>
              <a:t>Fig. 1. Semaglutide reduced body weight and fat mass; adding bimagrumab produced the largest fat-mass decline while supporting lean mass relative to semaglutide alone. Source slide 11.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4d216b5c64272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201025"/>
            <a:ext cx="6858000" cy="942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81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">
            <a:extLst xmlns:a="http://schemas.openxmlformats.org/drawingml/2006/main">
              <a:ext uri="{FF2B5EF4-FFF2-40B4-BE49-F238E27FC236}">
                <a16:creationId xmlns:a16="http://schemas.microsoft.com/office/drawing/2014/main" id="{3C35A58C-1C0D-4388-8A11-144058A3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57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9C"/>
                </a:solidFill>
              </a:defRPr>
            </a:pPr>
            <a:r>
              <a:rPr sz="1350" b="1">
                <a:solidFill>
                  <a:srgbClr val="1F4E9C"/>
                </a:solidFill>
              </a:rPr>
              <a:t>DIO Mouse Model | Terminal Endpoints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6b6e76a8f43e3"/>
          <a:stretch xmlns:a="http://schemas.openxmlformats.org/drawingml/2006/main"/>
        </p:blipFill>
        <p:spPr>
          <a:xfrm xmlns:a="http://schemas.openxmlformats.org/drawingml/2006/main">
            <a:off x="4619625" y="261008"/>
            <a:ext cx="2171700" cy="401909"/>
          </a:xfrm>
          <a:prstGeom xmlns:a="http://schemas.openxmlformats.org/drawingml/2006/main" prst="rect">
            <a:avLst/>
          </a:prstGeom>
        </p:spPr>
      </p:pic>
      <p:sp>
        <p:nvSpPr>
          <p:cNvPr id="3" name="study-banner-2">
            <a:extLst xmlns:a="http://schemas.openxmlformats.org/drawingml/2006/main">
              <a:ext uri="{FF2B5EF4-FFF2-40B4-BE49-F238E27FC236}">
                <a16:creationId xmlns:a16="http://schemas.microsoft.com/office/drawing/2014/main" id="{5E9367CE-1F4F-4288-93A2-08F2353B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66775"/>
            <a:ext cx="63055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C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y-banner-text-2">
            <a:extLst xmlns:a="http://schemas.openxmlformats.org/drawingml/2006/main">
              <a:ext uri="{FF2B5EF4-FFF2-40B4-BE49-F238E27FC236}">
                <a16:creationId xmlns:a16="http://schemas.microsoft.com/office/drawing/2014/main" id="{081026CD-74D9-4F00-8751-4758A93B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595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Organ and adipose-depot pharmacodynamics</a:t>
            </a:r>
          </a:p>
        </p:txBody>
      </p:sp>
      <p:sp>
        <p:nvSpPr>
          <p:cNvPr id="5" name="intro-2">
            <a:extLst xmlns:a="http://schemas.openxmlformats.org/drawingml/2006/main">
              <a:ext uri="{FF2B5EF4-FFF2-40B4-BE49-F238E27FC236}">
                <a16:creationId xmlns:a16="http://schemas.microsoft.com/office/drawing/2014/main" id="{80741ABE-98AF-4E46-8165-49FAD3F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763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5657B"/>
                </a:solidFill>
              </a:defRPr>
            </a:pPr>
            <a:r>
              <a:rPr sz="938" b="0">
                <a:solidFill>
                  <a:srgbClr val="55657B"/>
                </a:solidFill>
              </a:rPr>
              <a:t>Endpoint liver, adipose-depot and tissue weights support organ-level interpretation of the treatment response.</a:t>
            </a:r>
          </a:p>
        </p:txBody>
      </p:sp>
      <p:sp>
        <p:nvSpPr>
          <p:cNvPr id="6" name="side-tab-2">
            <a:extLst xmlns:a="http://schemas.openxmlformats.org/drawingml/2006/main">
              <a:ext uri="{FF2B5EF4-FFF2-40B4-BE49-F238E27FC236}">
                <a16:creationId xmlns:a16="http://schemas.microsoft.com/office/drawing/2014/main" id="{54F91B50-0895-4CB6-86C1-E5D5A1EB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1695450"/>
            <a:ext cx="371475" cy="589597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7E1F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ide-tab-text-2">
            <a:extLst xmlns:a="http://schemas.openxmlformats.org/drawingml/2006/main">
              <a:ext uri="{FF2B5EF4-FFF2-40B4-BE49-F238E27FC236}">
                <a16:creationId xmlns:a16="http://schemas.microsoft.com/office/drawing/2014/main" id="{82B4F385-8DB9-43A2-B912-499DD9DC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581275" y="4500563"/>
            <a:ext cx="5591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TERMINAL ENDPOINTS</a:t>
            </a:r>
          </a:p>
        </p:txBody>
      </p:sp>
      <p:sp>
        <p:nvSpPr>
          <p:cNvPr id="8" name="figure-frame-2">
            <a:extLst xmlns:a="http://schemas.openxmlformats.org/drawingml/2006/main">
              <a:ext uri="{FF2B5EF4-FFF2-40B4-BE49-F238E27FC236}">
                <a16:creationId xmlns:a16="http://schemas.microsoft.com/office/drawing/2014/main" id="{9AD9053D-1EA8-4535-ADD1-E3DAE1CC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95450"/>
            <a:ext cx="6191250" cy="5895975"/>
          </a:xfrm>
          <a:prstGeom xmlns:a="http://schemas.openxmlformats.org/drawingml/2006/main" prst="roundRect">
            <a:avLst>
              <a:gd name="adj" fmla="val 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38ed7ca0a4563"/>
          <a:stretch xmlns:a="http://schemas.openxmlformats.org/drawingml/2006/main"/>
        </p:blipFill>
        <p:spPr>
          <a:xfrm xmlns:a="http://schemas.openxmlformats.org/drawingml/2006/main">
            <a:off x="581025" y="2923970"/>
            <a:ext cx="6115050" cy="3438934"/>
          </a:xfrm>
          <a:prstGeom xmlns:a="http://schemas.openxmlformats.org/drawingml/2006/main" prst="rect">
            <a:avLst/>
          </a:prstGeom>
        </p:spPr>
      </p:pic>
      <p:sp>
        <p:nvSpPr>
          <p:cNvPr id="10" name="caption-2">
            <a:extLst xmlns:a="http://schemas.openxmlformats.org/drawingml/2006/main">
              <a:ext uri="{FF2B5EF4-FFF2-40B4-BE49-F238E27FC236}">
                <a16:creationId xmlns:a16="http://schemas.microsoft.com/office/drawing/2014/main" id="{24A0A0B9-1A3C-4E2C-BB43-646C113D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648575"/>
            <a:ext cx="6267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4324A"/>
                </a:solidFill>
              </a:defRPr>
            </a:pPr>
            <a:r>
              <a:rPr sz="788" b="0">
                <a:solidFill>
                  <a:srgbClr val="24324A"/>
                </a:solidFill>
              </a:rPr>
              <a:t>Fig. 2. Semaglutide-containing arms reduced multiple adipose depots and organ weights; the combination arm paired broad fat-depot reductions with bimagrumab-supported lean-tissue outcomes. Source slide 12.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6c3244c664bf0"/>
          <a:srcRect xmlns:a="http://schemas.openxmlformats.org/drawingml/2006/main" l="0" t="177" r="0" b="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201025"/>
            <a:ext cx="6858000" cy="942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6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2026-07-24T08:17:10.2370000Z</dcterms:created>
  <dcterms:modified xsi:type="dcterms:W3CDTF">2026-07-24T08:17:10.2370000Z</dcterms:modified>
</coreProperties>
</file>