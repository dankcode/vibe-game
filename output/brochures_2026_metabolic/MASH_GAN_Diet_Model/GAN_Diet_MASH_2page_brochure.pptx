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ab4e052cb84e1f" /><Relationship Type="http://schemas.openxmlformats.org/officeDocument/2006/relationships/extended-properties" Target="/docProps/app.xml" Id="R44f4d329437c4b08" /><Relationship Type="http://schemas.openxmlformats.org/officeDocument/2006/relationships/officeDocument" Target="/ppt/presentation.xml" Id="R8888010887af4f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ff9a289b6c4b6d"/>
  </p:sldMasterIdLst>
  <p:notesMasterIdLst>
    <p:notesMasterId xmlns:r="http://schemas.openxmlformats.org/officeDocument/2006/relationships" r:id="R5e07209db7b64111"/>
  </p:notesMasterIdLst>
  <p:sldIdLst>
    <p:sldId xmlns:r="http://schemas.openxmlformats.org/officeDocument/2006/relationships" id="256" r:id="R4b2f7cec2d51483a"/>
    <p:sldId xmlns:r="http://schemas.openxmlformats.org/officeDocument/2006/relationships" id="257" r:id="Rd7469dfd98c34509"/>
  </p:sldIdLst>
  <p:sldSz cx="6858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53fad5bff34bcb" /><Relationship Type="http://schemas.openxmlformats.org/officeDocument/2006/relationships/slideMaster" Target="/ppt/slideMasters/slideMaster1.xml" Id="Refff9a289b6c4b6d" /><Relationship Type="http://schemas.openxmlformats.org/officeDocument/2006/relationships/notesMaster" Target="/ppt/notesMasters/notesMaster1.xml" Id="R5e07209db7b64111" /><Relationship Type="http://schemas.openxmlformats.org/officeDocument/2006/relationships/presProps" Target="/ppt/presProps.xml" Id="R4130886ac4784159" /><Relationship Type="http://schemas.openxmlformats.org/officeDocument/2006/relationships/tableStyles" Target="/ppt/tableStyles.xml" Id="R70597083e98a43c7" /><Relationship Type="http://schemas.openxmlformats.org/officeDocument/2006/relationships/slide" Target="/ppt/slides/slide1.xml" Id="R4b2f7cec2d51483a" /><Relationship Type="http://schemas.openxmlformats.org/officeDocument/2006/relationships/slide" Target="/ppt/slides/slide2.xml" Id="Rd7469dfd98c345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73f1a8049347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dc751b5edb4268" /><Relationship Type="http://schemas.openxmlformats.org/officeDocument/2006/relationships/notesMaster" Target="/ppt/notesMasters/notesMaster1.xml" Id="Rd31efe6fd0594e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4c6b0718c04b17" /><Relationship Type="http://schemas.openxmlformats.org/officeDocument/2006/relationships/notesMaster" Target="/ppt/notesMasters/notesMaster1.xml" Id="Rd69e06f06d5242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/Users/lx/Downloads/2026南模生物代谢模型数据总结 -liuxia-2026-07-09.pptx, slide 31 (primary figure and treatment-group evidence).</a:t>
            </a:r>
          </a:p>
          <a:p xmlns:a="http://schemas.openxmlformats.org/drawingml/2006/main">
            <a:r>
              <a:t>- /Users/lx/.codex/skills/brochure-blueprint/assets/layout.json (brochure geometry).</a:t>
            </a:r>
          </a:p>
          <a:p xmlns:a="http://schemas.openxmlformats.org/drawingml/2006/main">
            <a:r>
              <a:t>- /Users/lx/.codex/skills/brochure-blueprint/assets/brand/ (logo and English footer artwork).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/Users/lx/Downloads/2026南模生物代谢模型数据总结 -liuxia-2026-07-09.pptx, slide 32 (primary figure and treatment-group evidence).</a:t>
            </a:r>
          </a:p>
          <a:p xmlns:a="http://schemas.openxmlformats.org/drawingml/2006/main">
            <a:r>
              <a:t>- /Users/lx/.codex/skills/brochure-blueprint/assets/layout.json (brochure geometry).</a:t>
            </a:r>
          </a:p>
          <a:p xmlns:a="http://schemas.openxmlformats.org/drawingml/2006/main">
            <a:r>
              <a:t>- /Users/lx/.codex/skills/brochure-blueprint/assets/brand/ (logo and English footer artwork).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c02a3bfb864c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f8d2dba4834f0f" /><Relationship Type="http://schemas.openxmlformats.org/officeDocument/2006/relationships/slideLayout" Target="/ppt/slideLayouts/slideLayout1.xml" Id="R04f44e3da8d942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f44e3da8d942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567168ef24aee" /><Relationship Type="http://schemas.openxmlformats.org/officeDocument/2006/relationships/image" Target="/ppt/media/image.png" Id="Rc0b00a023807404c" /><Relationship Type="http://schemas.openxmlformats.org/officeDocument/2006/relationships/image" Target="/ppt/media/image2.png" Id="Rc61a073fc9884673" /><Relationship Type="http://schemas.openxmlformats.org/officeDocument/2006/relationships/image" Target="/ppt/media/image3.png" Id="R41392d6cb38a4aa7" /><Relationship Type="http://schemas.openxmlformats.org/officeDocument/2006/relationships/notesSlide" Target="/ppt/notesSlides/notesSlide1.xml" Id="R4ba2cefd0f444e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c2e96ed674b85" /><Relationship Type="http://schemas.openxmlformats.org/officeDocument/2006/relationships/image" Target="/ppt/media/image4.png" Id="R004734c303f94081" /><Relationship Type="http://schemas.openxmlformats.org/officeDocument/2006/relationships/image" Target="/ppt/media/image5.png" Id="Rc8be501d6d8644c5" /><Relationship Type="http://schemas.openxmlformats.org/officeDocument/2006/relationships/image" Target="/ppt/media/image6.png" Id="R960030517ae34494" /><Relationship Type="http://schemas.openxmlformats.org/officeDocument/2006/relationships/notesSlide" Target="/ppt/notesSlides/notesSlide2.xml" Id="Rb4492f40ade54a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">
            <a:extLst xmlns:a="http://schemas.openxmlformats.org/drawingml/2006/main">
              <a:ext uri="{FF2B5EF4-FFF2-40B4-BE49-F238E27FC236}">
                <a16:creationId xmlns:a16="http://schemas.microsoft.com/office/drawing/2014/main" id="{4E12BDF6-7EC4-44DC-BDA9-D2C70C6F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85750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9C"/>
                </a:solidFill>
              </a:defRPr>
            </a:pPr>
            <a:r>
              <a:rPr sz="1500" b="1">
                <a:solidFill>
                  <a:srgbClr val="1F4E9C"/>
                </a:solidFill>
              </a:rPr>
              <a:t>GAN Diet-Induced MASH Mouse Model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00a023807404c"/>
          <a:stretch xmlns:a="http://schemas.openxmlformats.org/drawingml/2006/main"/>
        </p:blipFill>
        <p:spPr>
          <a:xfrm xmlns:a="http://schemas.openxmlformats.org/drawingml/2006/main">
            <a:off x="4619625" y="261008"/>
            <a:ext cx="2171700" cy="401909"/>
          </a:xfrm>
          <a:prstGeom xmlns:a="http://schemas.openxmlformats.org/drawingml/2006/main" prst="rect">
            <a:avLst/>
          </a:prstGeom>
        </p:spPr>
      </p:pic>
      <p:sp>
        <p:nvSpPr>
          <p:cNvPr id="3" name="header-band-1">
            <a:extLst xmlns:a="http://schemas.openxmlformats.org/drawingml/2006/main">
              <a:ext uri="{FF2B5EF4-FFF2-40B4-BE49-F238E27FC236}">
                <a16:creationId xmlns:a16="http://schemas.microsoft.com/office/drawing/2014/main" id="{542E45D9-87FD-4328-98F2-93ECD46B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685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B5659651-925B-4903-B14E-F1EFAAE3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95350"/>
            <a:ext cx="659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Translational MASH platform combining systemic metabolic measures, liver biochemistry and histopathology. The source studies profile FGF21-pathway efficacy across body weight, glucose, insulin, AST/ALT, liver triglycerides, steatosis, fibrosis and NAS components.</a:t>
            </a:r>
          </a:p>
        </p:txBody>
      </p:sp>
      <p:sp>
        <p:nvSpPr>
          <p:cNvPr id="5" name="study-banner-1">
            <a:extLst xmlns:a="http://schemas.openxmlformats.org/drawingml/2006/main">
              <a:ext uri="{FF2B5EF4-FFF2-40B4-BE49-F238E27FC236}">
                <a16:creationId xmlns:a16="http://schemas.microsoft.com/office/drawing/2014/main" id="{7725D822-514A-49E1-B8E1-3692C2F5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781175"/>
            <a:ext cx="63055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udy-banner-text-1">
            <a:extLst xmlns:a="http://schemas.openxmlformats.org/drawingml/2006/main">
              <a:ext uri="{FF2B5EF4-FFF2-40B4-BE49-F238E27FC236}">
                <a16:creationId xmlns:a16="http://schemas.microsoft.com/office/drawing/2014/main" id="{882C558A-B1BD-4885-A85B-DC22DDAE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595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FGF21 pathway efficacy in GAN diet-induced MASH</a:t>
            </a:r>
          </a:p>
        </p:txBody>
      </p:sp>
      <p:sp>
        <p:nvSpPr>
          <p:cNvPr id="7" name="intro-1">
            <a:extLst xmlns:a="http://schemas.openxmlformats.org/drawingml/2006/main">
              <a:ext uri="{FF2B5EF4-FFF2-40B4-BE49-F238E27FC236}">
                <a16:creationId xmlns:a16="http://schemas.microsoft.com/office/drawing/2014/main" id="{A3B0668A-7C0F-4B49-AD54-D83E905D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657B"/>
                </a:solidFill>
              </a:defRPr>
            </a:pPr>
            <a:r>
              <a:rPr sz="938" b="0">
                <a:solidFill>
                  <a:srgbClr val="55657B"/>
                </a:solidFill>
              </a:rPr>
              <a:t>A 42-day study compares chow/PBS, GAN/PBS and GAN/FGF21 groups across systemic and hepatic endpoints.</a:t>
            </a:r>
          </a:p>
        </p:txBody>
      </p:sp>
      <p:sp>
        <p:nvSpPr>
          <p:cNvPr id="8" name="side-tab-1">
            <a:extLst xmlns:a="http://schemas.openxmlformats.org/drawingml/2006/main">
              <a:ext uri="{FF2B5EF4-FFF2-40B4-BE49-F238E27FC236}">
                <a16:creationId xmlns:a16="http://schemas.microsoft.com/office/drawing/2014/main" id="{914CAD02-A2DC-44D6-A147-2CD8F8DB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514600"/>
            <a:ext cx="371475" cy="5076825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ide-tab-text-1">
            <a:extLst xmlns:a="http://schemas.openxmlformats.org/drawingml/2006/main">
              <a:ext uri="{FF2B5EF4-FFF2-40B4-BE49-F238E27FC236}">
                <a16:creationId xmlns:a16="http://schemas.microsoft.com/office/drawing/2014/main" id="{375A60F4-146B-4ADB-8AD7-7CBECEE3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2171700" y="4910138"/>
            <a:ext cx="477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42-DAY FGF21 STUDY</a:t>
            </a:r>
          </a:p>
        </p:txBody>
      </p:sp>
      <p:sp>
        <p:nvSpPr>
          <p:cNvPr id="10" name="figure-frame-1">
            <a:extLst xmlns:a="http://schemas.openxmlformats.org/drawingml/2006/main">
              <a:ext uri="{FF2B5EF4-FFF2-40B4-BE49-F238E27FC236}">
                <a16:creationId xmlns:a16="http://schemas.microsoft.com/office/drawing/2014/main" id="{66FF7DA5-1779-4D90-A3E2-96B04B95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81275"/>
            <a:ext cx="6191250" cy="5019675"/>
          </a:xfrm>
          <a:prstGeom xmlns:a="http://schemas.openxmlformats.org/drawingml/2006/main" prst="roundRect">
            <a:avLst>
              <a:gd name="adj" fmla="val 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a073fc9884673"/>
          <a:stretch xmlns:a="http://schemas.openxmlformats.org/drawingml/2006/main"/>
        </p:blipFill>
        <p:spPr>
          <a:xfrm xmlns:a="http://schemas.openxmlformats.org/drawingml/2006/main">
            <a:off x="581025" y="3371645"/>
            <a:ext cx="6115050" cy="3438934"/>
          </a:xfrm>
          <a:prstGeom xmlns:a="http://schemas.openxmlformats.org/drawingml/2006/main" prst="rect">
            <a:avLst/>
          </a:prstGeom>
        </p:spPr>
      </p:pic>
      <p:sp>
        <p:nvSpPr>
          <p:cNvPr id="12" name="caption-1">
            <a:extLst xmlns:a="http://schemas.openxmlformats.org/drawingml/2006/main">
              <a:ext uri="{FF2B5EF4-FFF2-40B4-BE49-F238E27FC236}">
                <a16:creationId xmlns:a16="http://schemas.microsoft.com/office/drawing/2014/main" id="{70B014F1-6AC0-42FB-8B47-F36A10E3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7648575"/>
            <a:ext cx="6267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4324A"/>
                </a:solidFill>
              </a:defRPr>
            </a:pPr>
            <a:r>
              <a:rPr sz="788" b="0">
                <a:solidFill>
                  <a:srgbClr val="24324A"/>
                </a:solidFill>
              </a:rPr>
              <a:t>Fig. 1. FGF21 treatment produced sustained weight loss and improved fasting glucose, insulin, liver enzymes and hepatic lipid measures versus GAN-diet vehicle. Source slide 31.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92d6cb38a4aa7"/>
          <a:srcRect xmlns:a="http://schemas.openxmlformats.org/drawingml/2006/main" l="0" t="177" r="0" b="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201025"/>
            <a:ext cx="6858000" cy="942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8422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2">
            <a:extLst xmlns:a="http://schemas.openxmlformats.org/drawingml/2006/main">
              <a:ext uri="{FF2B5EF4-FFF2-40B4-BE49-F238E27FC236}">
                <a16:creationId xmlns:a16="http://schemas.microsoft.com/office/drawing/2014/main" id="{15DB5517-3B84-46CD-8152-13B301E8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857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9C"/>
                </a:solidFill>
              </a:defRPr>
            </a:pPr>
            <a:r>
              <a:rPr sz="1350" b="1">
                <a:solidFill>
                  <a:srgbClr val="1F4E9C"/>
                </a:solidFill>
              </a:rPr>
              <a:t>MASH Model | Liver Histopathology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734c303f94081"/>
          <a:stretch xmlns:a="http://schemas.openxmlformats.org/drawingml/2006/main"/>
        </p:blipFill>
        <p:spPr>
          <a:xfrm xmlns:a="http://schemas.openxmlformats.org/drawingml/2006/main">
            <a:off x="4619625" y="261008"/>
            <a:ext cx="2171700" cy="401909"/>
          </a:xfrm>
          <a:prstGeom xmlns:a="http://schemas.openxmlformats.org/drawingml/2006/main" prst="rect">
            <a:avLst/>
          </a:prstGeom>
        </p:spPr>
      </p:pic>
      <p:sp>
        <p:nvSpPr>
          <p:cNvPr id="3" name="study-banner-2">
            <a:extLst xmlns:a="http://schemas.openxmlformats.org/drawingml/2006/main">
              <a:ext uri="{FF2B5EF4-FFF2-40B4-BE49-F238E27FC236}">
                <a16:creationId xmlns:a16="http://schemas.microsoft.com/office/drawing/2014/main" id="{F6C6D604-1EEA-451F-9B0C-60D322F6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66775"/>
            <a:ext cx="63055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y-banner-text-2">
            <a:extLst xmlns:a="http://schemas.openxmlformats.org/drawingml/2006/main">
              <a:ext uri="{FF2B5EF4-FFF2-40B4-BE49-F238E27FC236}">
                <a16:creationId xmlns:a16="http://schemas.microsoft.com/office/drawing/2014/main" id="{37DC31FC-6D04-4617-A764-307957CE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595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FGF21 improves steatosis and histopathology</a:t>
            </a:r>
          </a:p>
        </p:txBody>
      </p:sp>
      <p:sp>
        <p:nvSpPr>
          <p:cNvPr id="5" name="intro-2">
            <a:extLst xmlns:a="http://schemas.openxmlformats.org/drawingml/2006/main">
              <a:ext uri="{FF2B5EF4-FFF2-40B4-BE49-F238E27FC236}">
                <a16:creationId xmlns:a16="http://schemas.microsoft.com/office/drawing/2014/main" id="{CB5C013A-0DCF-4301-8396-F8549A46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763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657B"/>
                </a:solidFill>
              </a:defRPr>
            </a:pPr>
            <a:r>
              <a:rPr sz="938" b="0">
                <a:solidFill>
                  <a:srgbClr val="55657B"/>
                </a:solidFill>
              </a:rPr>
              <a:t>Sirius Red and H&amp;E panels benchmark diet-induced pathology against treated animals with quantitative fibrosis, steatosis and NAS readouts.</a:t>
            </a:r>
          </a:p>
        </p:txBody>
      </p:sp>
      <p:sp>
        <p:nvSpPr>
          <p:cNvPr id="6" name="side-tab-2">
            <a:extLst xmlns:a="http://schemas.openxmlformats.org/drawingml/2006/main">
              <a:ext uri="{FF2B5EF4-FFF2-40B4-BE49-F238E27FC236}">
                <a16:creationId xmlns:a16="http://schemas.microsoft.com/office/drawing/2014/main" id="{37C5AFFA-1707-46C6-915D-B36D2C6D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1695450"/>
            <a:ext cx="371475" cy="5895975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7E1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ide-tab-text-2">
            <a:extLst xmlns:a="http://schemas.openxmlformats.org/drawingml/2006/main">
              <a:ext uri="{FF2B5EF4-FFF2-40B4-BE49-F238E27FC236}">
                <a16:creationId xmlns:a16="http://schemas.microsoft.com/office/drawing/2014/main" id="{DD2B7FF8-68D1-48A6-B155-F92706F2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2581275" y="4500563"/>
            <a:ext cx="5591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LIVER HISTOPATHOLOGY</a:t>
            </a:r>
          </a:p>
        </p:txBody>
      </p:sp>
      <p:sp>
        <p:nvSpPr>
          <p:cNvPr id="8" name="figure-frame-2">
            <a:extLst xmlns:a="http://schemas.openxmlformats.org/drawingml/2006/main">
              <a:ext uri="{FF2B5EF4-FFF2-40B4-BE49-F238E27FC236}">
                <a16:creationId xmlns:a16="http://schemas.microsoft.com/office/drawing/2014/main" id="{2C54FE88-F1F8-435B-B68E-B5B844CB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95450"/>
            <a:ext cx="6191250" cy="5895975"/>
          </a:xfrm>
          <a:prstGeom xmlns:a="http://schemas.openxmlformats.org/drawingml/2006/main" prst="roundRect">
            <a:avLst>
              <a:gd name="adj" fmla="val 8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e501d6d8644c5"/>
          <a:stretch xmlns:a="http://schemas.openxmlformats.org/drawingml/2006/main"/>
        </p:blipFill>
        <p:spPr>
          <a:xfrm xmlns:a="http://schemas.openxmlformats.org/drawingml/2006/main">
            <a:off x="581025" y="2923970"/>
            <a:ext cx="6115050" cy="3438934"/>
          </a:xfrm>
          <a:prstGeom xmlns:a="http://schemas.openxmlformats.org/drawingml/2006/main" prst="rect">
            <a:avLst/>
          </a:prstGeom>
        </p:spPr>
      </p:pic>
      <p:sp>
        <p:nvSpPr>
          <p:cNvPr id="10" name="caption-2">
            <a:extLst xmlns:a="http://schemas.openxmlformats.org/drawingml/2006/main">
              <a:ext uri="{FF2B5EF4-FFF2-40B4-BE49-F238E27FC236}">
                <a16:creationId xmlns:a16="http://schemas.microsoft.com/office/drawing/2014/main" id="{B3FBA9C0-EC63-430F-AF47-9022B0FD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7648575"/>
            <a:ext cx="6267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4324A"/>
                </a:solidFill>
              </a:defRPr>
            </a:pPr>
            <a:r>
              <a:rPr sz="788" b="0">
                <a:solidFill>
                  <a:srgbClr val="24324A"/>
                </a:solidFill>
              </a:rPr>
              <a:t>Fig. 2. FGF21-treated GAN-diet mice show less steatosis and improved H&amp;E appearance, with lower fibrosis and NAS-related pathology than GAN-diet vehicle animals. Source slide 32.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030517ae34494"/>
          <a:srcRect xmlns:a="http://schemas.openxmlformats.org/drawingml/2006/main" l="0" t="177" r="0" b="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201025"/>
            <a:ext cx="6858000" cy="942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8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2026-07-24T08:17:11.4800000Z</dcterms:created>
  <dcterms:modified xsi:type="dcterms:W3CDTF">2026-07-24T08:17:11.4800000Z</dcterms:modified>
</coreProperties>
</file>